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Preskripsi susulan</c:v>
                </c:pt>
              </c:strCache>
            </c:strRef>
          </c:tx>
          <c:spPr>
            <a:solidFill>
              <a:srgbClr val="9AD9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Q2 2025</c:v>
                  </c:pt>
                  <c:pt idx="1">
                    <c:v>Q3 2025</c:v>
                  </c:pt>
                  <c:pt idx="2">
                    <c:v>Q4 2025</c:v>
                  </c:pt>
                  <c:pt idx="3">
                    <c:v>Q1 2026</c:v>
                  </c:pt>
                  <c:pt idx="4">
                    <c:v>Q2 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45808</c:v>
                </c:pt>
                <c:pt idx="1">
                  <c:v>47062</c:v>
                </c:pt>
                <c:pt idx="2">
                  <c:v>46346</c:v>
                </c:pt>
                <c:pt idx="3">
                  <c:v>41428</c:v>
                </c:pt>
                <c:pt idx="4">
                  <c:v>41018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E5A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5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000"/>
          <c:min val="0"/>
        </c:scaling>
        <c:delete val="1"/>
        <c:axPos val="l"/>
        <c:majorGridlines>
          <c:spPr>
            <a:ln w="12700" cap="flat">
              <a:solidFill>
                <a:srgbClr val="E3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91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2025</c:v>
                </c:pt>
              </c:strCache>
            </c:strRef>
          </c:tx>
          <c:spPr>
            <a:solidFill>
              <a:srgbClr val="9AD9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UMP</c:v>
                  </c:pt>
                  <c:pt idx="1">
                    <c:v>Pandu Lalu</c:v>
                  </c:pt>
                  <c:pt idx="2">
                    <c:v>Locker</c:v>
                  </c:pt>
                  <c:pt idx="3">
                    <c:v>Esyms</c:v>
                  </c:pt>
                  <c:pt idx="4">
                    <c:v>IDTF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17491</c:v>
                </c:pt>
                <c:pt idx="1">
                  <c:v>0</c:v>
                </c:pt>
                <c:pt idx="2">
                  <c:v>385</c:v>
                </c:pt>
                <c:pt idx="3">
                  <c:v>512</c:v>
                </c:pt>
                <c:pt idx="4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UMP</c:v>
                  </c:pt>
                  <c:pt idx="1">
                    <c:v>Pandu Lalu</c:v>
                  </c:pt>
                  <c:pt idx="2">
                    <c:v>Locker</c:v>
                  </c:pt>
                  <c:pt idx="3">
                    <c:v>Esyms</c:v>
                  </c:pt>
                  <c:pt idx="4">
                    <c:v>IDTF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17827</c:v>
                </c:pt>
                <c:pt idx="1">
                  <c:v>3428</c:v>
                </c:pt>
                <c:pt idx="2">
                  <c:v>894</c:v>
                </c:pt>
                <c:pt idx="3">
                  <c:v>414</c:v>
                </c:pt>
                <c:pt idx="4">
                  <c:v>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E5A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5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0"/>
        </c:scaling>
        <c:delete val="1"/>
        <c:axPos val="b"/>
        <c:majorGridlines>
          <c:spPr>
            <a:ln w="12700" cap="flat">
              <a:solidFill>
                <a:srgbClr val="E3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91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E5A6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VAS% gabungan naik dari 40.82% ke 55.35%. Mesej utama: peratusan naik sebahagiannya kerana penyebut mengecil, bukan semata-mata kerana VAS berkembang.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Penyebut stabil sepanjang 2025 lalu jatuh mendadak Q1 2026. Bukan VAS turun 8,794 tetapi VAS naik hanya 4,004 — bakinya hilang dari pelaporan, bukan berpindah saluran.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Penguraian tepat: dp = (N1-N0)/D0 + N1(D0-D1)/(D0*D1). MB dan PJ mesti dilaporkan berasingan — mencampurkannya menyembunyikan hakikat bahawa volum VAS PJ mendatar.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Pandu Lalu ialah satu-satunya enjin pertumbuhan. UMP sebagai tulang belakang perkhidmatan telah mendatar. Ketergantungan pada satu servis baharu adalah risiko jika ia tepu.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mesej: MB ialah kejayaan sebenar, penyusutan penyebut PJ perlu disahkan dengan PF 5.2, dan pergantungan pada Pandu Lalu adalah risiko. Sasaran 25% tidak berisiko.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PRESKRIPSI SUSULAN (ULANGAN)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1704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VAS% naik 14.5 mata —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19019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tetapi separuhnya bukan pertumbuhan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– Q2 2026  •  FKP Melaka &amp; Pusat Jantung  •  5 suku tahun, 221,662 preskripsi susulan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−10.5%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97280" y="4709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penyusutan bil preskripsi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susulan (penyebut)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361188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90872" y="4709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daripada kenaikan VAS%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datang dari penyebut sahaja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3611880"/>
            <a:ext cx="3246120" cy="2057400"/>
          </a:xfrm>
          <a:prstGeom prst="roundRect">
            <a:avLst>
              <a:gd name="adj" fmla="val 4444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37947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284464" y="4709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penyebut di PJ —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 VAS sebenarnya turun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data bulanan Rx Ulangan &amp; VAS mengikut servis  |  Unit Farmasi Pesakit Luar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98448" y="274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Penyebut runtuh pada Q1 2026 dan tidak pulih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98448" y="8412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 preskripsi susulan (gabungan MB + PJ) mengikut suku tahun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371600"/>
          <a:ext cx="6949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2245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 ~46–47k sepanjang 2025, kemudian −10.6% dalam satu suku.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0" y="1371600"/>
            <a:ext cx="3840480" cy="2834640"/>
          </a:xfrm>
          <a:prstGeom prst="roundRect">
            <a:avLst>
              <a:gd name="adj" fmla="val 2903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−4,790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046720" y="2304288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preskripsi susulan hilang dari penyebut antara Q2 2025 dan Q2 2026 — dan penyusutan itu berlaku sepenuhnya pada Bukan VAS.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461772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" y="4773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" y="50840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18,701  →  22,705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58952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+4,004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160520" y="461772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16552" y="4773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VAS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16552" y="50840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27,107  →  18,313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416552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−8,794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7772400" y="4617720"/>
            <a:ext cx="3840480" cy="1417320"/>
          </a:xfrm>
          <a:prstGeom prst="roundRect">
            <a:avLst>
              <a:gd name="adj" fmla="val 5806"/>
            </a:avLst>
          </a:prstGeom>
          <a:solidFill>
            <a:srgbClr val="083F49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0" y="48006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separuh penurunan Bukan VAS tidak muncul semula sebagai VAS. Ini bukan sekadar peralihan saluran.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98448" y="274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lokasi, dua cerita yang bertentangan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98448" y="8412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Pecahan perubahan VAS% Q2 2025 → Q2 2026 kepada kesan pengangka dan penyebut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534924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179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— PERTUMBUHAN TULEN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186537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C91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21.84%</a:t>
            </a:r>
            <a:pPr indent="0" marL="0">
              <a:buNone/>
            </a:pPr>
            <a:r>
              <a:rPr lang="en-US" sz="18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32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42.76%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+20.92 mata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2578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Penyebut (susulan)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5786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19,200 → 19,445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5786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035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Pengangka (VAS)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0358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4,194 → 8,315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3035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+98.3%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456432"/>
            <a:ext cx="4800600" cy="0"/>
          </a:xfrm>
          <a:prstGeom prst="line">
            <a:avLst/>
          </a:prstGeom>
          <a:noFill/>
          <a:ln w="12700">
            <a:solidFill>
              <a:srgbClr val="DCE9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93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pengangka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4930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493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+21.46 mata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9502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penyebut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39502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63440" y="39502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−0.55 mata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4439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 VAS berganda pada asas pesakit yang hampir tidak berubah. Kenaikan ini betul-betul diperoleh.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325880"/>
            <a:ext cx="5349240" cy="3794760"/>
          </a:xfrm>
          <a:prstGeom prst="roundRect">
            <a:avLst>
              <a:gd name="adj" fmla="val 2169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325880"/>
            <a:ext cx="5349240" cy="64008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5179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 — KESAN PENYEBUT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186537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C91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54.52%</a:t>
            </a:r>
            <a:pPr indent="0" marL="0">
              <a:buNone/>
            </a:pPr>
            <a:r>
              <a:rPr lang="en-US" sz="18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32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66.70%</a:t>
            </a:r>
            <a:pPr indent="0" marL="0">
              <a:buNone/>
            </a:pPr>
            <a:r>
              <a:rPr lang="en-US" sz="14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+12.18 mata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537960" y="2578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Penyebut (susulan)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23960" y="25786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26,608 → 21,573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378440" y="25786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−18.9%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3035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Pengangka (VAS)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23960" y="30358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14,507 → 14,390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378440" y="3035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3456432"/>
            <a:ext cx="4800600" cy="0"/>
          </a:xfrm>
          <a:prstGeom prst="line">
            <a:avLst/>
          </a:prstGeom>
          <a:noFill/>
          <a:ln w="12700">
            <a:solidFill>
              <a:srgbClr val="DCE9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493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pengangka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23960" y="34930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378440" y="3493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−0.44 mata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37960" y="39502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 penyebut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23960" y="39502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378440" y="39502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+12.62 mata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37960" y="44439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 VAS sebenarnya menurun. Hampir keseluruhan kenaikan 12 mata ialah artifak aritmetik.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5321808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468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kepekaan: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penyebut kekal pada paras Q2 2025 (45,808), VAS% gabungan Q2 2026 ialah 49.57% — bukan 55.35%. Beza 5.79 mata itu datang daripada penyebut yang mengecil, bukan perkhidmatan yang berkembang.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98448" y="274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Seluruh pertumbuhan VAS datang dari satu servis baharu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98448" y="8412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Pecahan preskripsi VAS mengikut servis, Q2 2025 berbanding Q2 2026 (gabungan)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37160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371600"/>
            <a:ext cx="3840480" cy="1783080"/>
          </a:xfrm>
          <a:prstGeom prst="roundRect">
            <a:avLst>
              <a:gd name="adj" fmla="val 4615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15361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3,428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046720" y="2139696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 Lalu, dilancar Sep 2025, kini 15.1% daripada semua preskripsi VAS.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0" y="3291840"/>
            <a:ext cx="3840480" cy="1645920"/>
          </a:xfrm>
          <a:prstGeom prst="roundRect">
            <a:avLst>
              <a:gd name="adj" fmla="val 50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 mendatar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0" y="3767328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+336 preskripsi sahaja (+1.9%) dalam setahun, dan bahagiannya jatuh dari 93.5% ke 78.5%. Esyms merosot (−98).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5230368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Pandu Lalu, VAS gabungan hampir tidak berkembang langsung — pertumbuhan +4,004 preskripsi terdiri daripada +3,428 Pandu Lalu.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57424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data: 8 daripada 36 baris bulanan (kesemuanya PJ 2025) tidak sepadan antara jumlah servis dan lajur Rx Ulangan VAS, jurang −12 hingga −189. Data 2026 sepadan tepat.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3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Interpretasi &amp; implikasi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96926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 negeri ≥25% dicapai dengan selesa — tetapi angka itu bukan ukuran prestasi yang bersih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028090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739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F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BENAR-BENAR BAIK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60120" y="2724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+98.3% volum VAS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072384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Melaka menggandakan volum VAS pada asas pesakit yang stabil. Ini model yang patut direplikasi — kenaikan 20.9 mata hampir keseluruhannya kesan pengangka.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572768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7739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PERLU DISIASAT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45152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PJ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45152" y="2724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−5,035 penyebut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5152" y="3072384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 VAS mendatar sementara 5,035 preskripsi susulan hilang dari pelaporan dalam setahun. Sahkan dengan PF 5.2 sebelum trend ini dibawa ke laporan rasmi.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55864" y="1572768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7739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TERSEMBUNYI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30184" y="2103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330184" y="2724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penggerak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0184" y="3072384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penyebut pulih ke paras 2025, VAS% PJ akan jatuh semula tanpa sebarang perubahan prestasi. Pertumbuhan juga bergantung sepenuhnya pada Pandu Lalu.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828032"/>
            <a:ext cx="10789920" cy="1005840"/>
          </a:xfrm>
          <a:prstGeom prst="roundRect">
            <a:avLst>
              <a:gd name="adj" fmla="val 8182"/>
            </a:avLst>
          </a:prstGeom>
          <a:solidFill>
            <a:srgbClr val="0F5563"/>
          </a:solidFill>
          <a:ln w="19050">
            <a:solidFill>
              <a:srgbClr val="E08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97433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pelaporan: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laporkan volum VAS mutlak bersama peratusan, dan asingkan MB daripada PJ. Peratusan sahaja menyembunyikan hakikat bahawa volum VAS PJ menurun sementara peratusannya naik 12 mata.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Asas: 5 suku tahun (Q2 2025 – Q2 2026), 221,662 preskripsi susulan. Penyebut perlu naik ke 90,820 (2.2× paras semasa) sebelum VAS% jatuh di bawah sasaran 25%.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Bil Preskripsi Susulan &amp; Kesannya ke atas VAS%</dc:title>
  <dc:subject>PptxGenJS Presentation</dc:subject>
  <dc:creator>Unit Farmasi Pesakit Luar</dc:creator>
  <cp:lastModifiedBy>Unit Farmasi Pesakit Luar</cp:lastModifiedBy>
  <cp:revision>1</cp:revision>
  <dcterms:created xsi:type="dcterms:W3CDTF">2026-08-14T03:33:27Z</dcterms:created>
  <dcterms:modified xsi:type="dcterms:W3CDTF">2026-08-14T03:33:27Z</dcterms:modified>
</cp:coreProperties>
</file>