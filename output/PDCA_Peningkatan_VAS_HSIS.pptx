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VAS%</c:v>
                </c:pt>
              </c:strCache>
            </c:strRef>
          </c:tx>
          <c:spPr>
            <a:solidFill>
              <a:srgbClr val="9AD9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Q2 2025</c:v>
                  </c:pt>
                  <c:pt idx="1">
                    <c:v>Q3 2025</c:v>
                  </c:pt>
                  <c:pt idx="2">
                    <c:v>Q4 2025</c:v>
                  </c:pt>
                  <c:pt idx="3">
                    <c:v>Q1 2026</c:v>
                  </c:pt>
                  <c:pt idx="4">
                    <c:v>Q2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40.82</c:v>
                </c:pt>
                <c:pt idx="1">
                  <c:v>37.17</c:v>
                </c:pt>
                <c:pt idx="2">
                  <c:v>44.14</c:v>
                </c:pt>
                <c:pt idx="3">
                  <c:v>59.97</c:v>
                </c:pt>
                <c:pt idx="4">
                  <c:v>55.35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Sasaran 65%</c:v>
                </c:pt>
              </c:strCache>
            </c:strRef>
          </c:tx>
          <c:spPr>
            <a:solidFill>
              <a:srgbClr val="E08A3C"/>
            </a:solidFill>
            <a:ln w="25400" cap="flat">
              <a:solidFill>
                <a:srgbClr val="E08A3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3C"/>
              </a:solidFill>
              <a:ln w="9525" cap="flat">
                <a:solidFill>
                  <a:srgbClr val="E08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Q2 2025</c:v>
                  </c:pt>
                  <c:pt idx="1">
                    <c:v>Q3 2025</c:v>
                  </c:pt>
                  <c:pt idx="2">
                    <c:v>Q4 2025</c:v>
                  </c:pt>
                  <c:pt idx="3">
                    <c:v>Q1 2026</c:v>
                  </c:pt>
                  <c:pt idx="4">
                    <c:v>Q2 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"/>
          <c:min val="0"/>
        </c:scaling>
        <c:delete val="1"/>
        <c:axPos val="l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2025</c:v>
                </c:pt>
              </c:strCache>
            </c:strRef>
          </c:tx>
          <c:spPr>
            <a:solidFill>
              <a:srgbClr val="9AD9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UMP</c:v>
                  </c:pt>
                  <c:pt idx="1">
                    <c:v>Pandu Lalu</c:v>
                  </c:pt>
                  <c:pt idx="2">
                    <c:v>Locker</c:v>
                  </c:pt>
                  <c:pt idx="3">
                    <c:v>eSyms</c:v>
                  </c:pt>
                  <c:pt idx="4">
                    <c:v>IDTF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17491</c:v>
                </c:pt>
                <c:pt idx="1">
                  <c:v>0</c:v>
                </c:pt>
                <c:pt idx="2">
                  <c:v>385</c:v>
                </c:pt>
                <c:pt idx="3">
                  <c:v>512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UMP</c:v>
                  </c:pt>
                  <c:pt idx="1">
                    <c:v>Pandu Lalu</c:v>
                  </c:pt>
                  <c:pt idx="2">
                    <c:v>Locker</c:v>
                  </c:pt>
                  <c:pt idx="3">
                    <c:v>eSyms</c:v>
                  </c:pt>
                  <c:pt idx="4">
                    <c:v>IDTF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17827</c:v>
                </c:pt>
                <c:pt idx="1">
                  <c:v>3428</c:v>
                </c:pt>
                <c:pt idx="2">
                  <c:v>894</c:v>
                </c:pt>
                <c:pt idx="3">
                  <c:v>414</c:v>
                </c:pt>
                <c:pt idx="4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0"/>
          <c:min val="0"/>
        </c:scaling>
        <c:delete val="1"/>
        <c:axPos val="l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E5A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Bilangan sebutan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Lebih selesa
kaedah biasa</c:v>
                  </c:pt>
                  <c:pt idx="1">
                    <c:v>Banyak TCA
hampir tiap bulan</c:v>
                  </c:pt>
                  <c:pt idx="2">
                    <c:v>Kurang motivasi
cuba sistem baharu</c:v>
                  </c:pt>
                  <c:pt idx="3">
                    <c:v>Tinggal
berdekatan</c:v>
                  </c:pt>
                  <c:pt idx="4">
                    <c:v>Tiada telefon
pintar</c:v>
                  </c:pt>
                  <c:pt idx="5">
                    <c:v>Penerima tiada
di rumah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27</c:v>
                </c:pt>
                <c:pt idx="2">
                  <c:v>14</c:v>
                </c:pt>
                <c:pt idx="3">
                  <c:v>14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menyusun usaha kami sebagai satu pusingan PDCA lengkap dan menetapkan pusingan kedua untuk menutup jurang 9.65 mata ke sasaran 65% yang ditetapkan Pengurusan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Slaid pandangan keseluruhan — setiap kuadran dihuraikan pada slaid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Jurang sebenar terletak di MB. PJ sudah hampir dengan sasaran pada peringkat asas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Akui secara terbuka: tiga intervensi pertama dirancang atas hipotesis. Data suara pesakit hanya diperoleh pada penghujung pusingan dan kini memacu pusingan kedua.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Susunan ini penting: pertumbuhan VAS% yang paling ketara (Q4 2025 – Q1 2026) berlaku selepas Pandu Lalu ditingkatkan.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Mesej jujur: kemajuan besar, sasaran belum dicapai, dan jurang itu hampir keseluruhannya di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Kepelbagaian ialah kejayaan sebenar pusingan ini, tetapi kepekatan risiko pada Pandu Lalu perlu diurus dalam pusingan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bahagian paling penting dalam Check. Melaporkan +14.53 mata tanpa penguraian ini akan mengelirukan Pengurusan.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Jawapan berbilang pilihan, jadi jumlah sebutan melebihi 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Fasa Act mesti menghentikan sesuatu, bukan hanya menambah. eSyms dan kempen umum tanpa sasaran ialah calon penghentian.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Pusingan PDCA berikutnya bermula di sini. Sasaran 65% kekal; kaedah pengukuran diperketat.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KITARAN PENAMBAHBAIKAN KUALITI  •  PLAN – DO – CHECK – 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Meningkatkan peratus VAS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81051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daripada 40.8% kepada sasaran 65%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Farmasi Klinik Pesakit Luar, Hospital Sultan Idris Shah  •  Pusingan 1: Q2 2025 – Q2 2026  •  MB + PJ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03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4617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gabungan Q2 2026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(asas Q2 2025: 40.82%)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352044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3703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+14.53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90872" y="4617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peratus dicapai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empat suku tahun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352044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3703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84464" y="4617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lagi ke sasaran 65%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+3,957 Rx VAS sesuku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bulanan Rx Ulangan &amp; VAS mengikut servis; borang maklum balas pesakit menolak VAS (16 Jul – 13 Ogos 2026, n=84)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CHECK 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pusingan penuh, diringkaskan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dirancang, dilaksana, disemak dan diputuskan sepanjang Q2 2025 – Q2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53492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0876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Rancang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842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asas 40.82% (Q2 2025) jauh di bawah sasaran 65%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 hipotesis: saluran terlalu bergantung pada UMP (93.5%)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00837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SMART ditetapkan mengikut lokasi, bukan agregat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325880"/>
            <a:ext cx="534924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50876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Laksana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19842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Pelbagaikan saluran: eSyms, IDTF, Locker, Farmasi Pandu Lalu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49631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di kaunter + risalah pesakit (pokok keputusan)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00837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maklum balas penolakan diperkenalkan Julai 2026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94760"/>
            <a:ext cx="5349240" cy="64008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Semak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45312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naik ke 55.35% — +14.53 mata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96519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pertumbuhan tulen (+98.3% volum); PJ sebahagian besar kesan penyebut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47725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penolakan direkod: 81% kerana tabiat, bukan kegagalan sistem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79476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794760"/>
            <a:ext cx="5349240" cy="64008"/>
          </a:xfrm>
          <a:prstGeom prst="rect">
            <a:avLst/>
          </a:prstGeom>
          <a:solidFill>
            <a:srgbClr val="083F49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97764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8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Tindak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45312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Kekalkan &amp; piawaikan Pandu Lalu dan promosi kaunter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496519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Ubah: sasarkan warga emas, waris dan padanan bekalan dengan TCA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47725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▪"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Pusingan 2 (Q3 – Q4 2026): fokus MB, sasaran 65%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Pusingan 1 dilaporkan di sini; pusingan 2 dicadangkan pada slaid akhir.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Pernyataan masalah dan sasaran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 Q2 2025 dan jurang sebenar yang perlu ditutup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MASALAH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810512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Q2 2025, hanya 18,701 daripada 45,808 preskripsi susulan (40.82%) disalurkan melalui VAS. Bakinya 27,107 preskripsi kekal diambil di kaunter — menambah kesesakan, masa menunggu dan beban kerja FKP.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OBJEKTIF (SMART)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1810512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peratus preskripsi susulan yang disalurkan melalui VAS daripada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40.82% (Q2 2025)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kedua-dua lokasi MB dan PJ, diukur setiap suku tahun daripada data bulanan Rx Ulangan.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 Q2 2025 MENGIKUT LOKASI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77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977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susulan  19,200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VAS  4,194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9776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21.84%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92640" y="39776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43.2 mata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548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4754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susulan  26,608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47548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VAS  14,507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47548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54.52%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92640" y="4754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10.5 mata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5321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55321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susulan  45,808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5532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VAS  18,701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8160" y="55321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40.82%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92640" y="55321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8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24.2 mata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65% ditetapkan oleh Pengurusan Hospital sebagai sasaran semasa.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Punca yang dikenal pasti dan strategi tindakan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punca utama, setiap satu dipadankan dengan satu intervensi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/ HURAIAN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838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TINDAKAN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45920"/>
            <a:ext cx="64008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45920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Saluran terlalu sempit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64592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2025: 93.5% VAS melalui UMP sahaja. Pesakit yang tidak selesa dengan pos tiada pilihan lain.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83880" y="1645920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saluran alternatif: eSyms, IDTF, Locker dan Farmasi Pandu Lalu.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98064"/>
            <a:ext cx="64008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98064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Kesedaran pesakit rendah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798064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Pesakit tidak tahu VAS wujud atau bagaimana mendaftar; penerangan bergantung sepenuhnya pada masa kaunter.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2798064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Risalah pesakit (pokok keputusan) + promosi berstruktur semasa menunggu.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50208"/>
            <a:ext cx="64008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50208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Halangan digital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950208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memerlukan telefon pintar dan aplikasi — menyukarkan warga emas dan OKU.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83880" y="3950208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pendaftaran di kaunter; laluan tanpa telefon pintar melalui waris.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02352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02352"/>
            <a:ext cx="64008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0235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Tiada data suara pesakit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5102352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Sebab sebenar penolakan tidak pernah direkod, jadi intervensi dibuat atas andaian.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83880" y="5102352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maklum balas penolakan VAS diperkenalkan di FKP (Julai 2026).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 ke-4 adalah pembetulan kaedah: pusingan pertama bermula tanpa data punca sebenar.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benar-benar dilaksanakan, dan bila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Tarikh pengenalan dikesan daripada rekod transaksi bulanan mengikut servis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04288" y="156362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2395728" y="1746504"/>
            <a:ext cx="0" cy="621792"/>
          </a:xfrm>
          <a:prstGeom prst="line">
            <a:avLst/>
          </a:prstGeom>
          <a:noFill/>
          <a:ln w="25400">
            <a:solidFill>
              <a:srgbClr val="C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1325880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325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eSyms dibuka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3258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pertama di MB (29 Rx). Saluran e-dagang farmasi.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04288" y="2368296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2395728" y="2551176"/>
            <a:ext cx="0" cy="621792"/>
          </a:xfrm>
          <a:prstGeom prst="line">
            <a:avLst/>
          </a:prstGeom>
          <a:noFill/>
          <a:ln w="25400">
            <a:solidFill>
              <a:srgbClr val="CF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305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97480" y="2130552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1305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IDTF bermula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3055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di fasiliti kesihatan berdekatan rumah pesakit.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04288" y="3172968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2395728" y="3355848"/>
            <a:ext cx="0" cy="621792"/>
          </a:xfrm>
          <a:prstGeom prst="line">
            <a:avLst/>
          </a:prstGeom>
          <a:noFill/>
          <a:ln w="25400">
            <a:solidFill>
              <a:srgbClr val="CF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352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97480" y="2935224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9352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Farmasi Pandu Lalu dilancarkan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9352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Rx di MB dan PJ pada bulan pertama — perintis.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304288" y="397764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2395728" y="4160520"/>
            <a:ext cx="0" cy="621792"/>
          </a:xfrm>
          <a:prstGeom prst="line">
            <a:avLst/>
          </a:prstGeom>
          <a:noFill/>
          <a:ln w="25400">
            <a:solidFill>
              <a:srgbClr val="CFE4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398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Nov–Dis 2025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97480" y="3739896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7398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 Lalu ditingkatkan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373989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Melonjak ke 359 lalu 940 Rx sebulan; Locker turut dikembangkan.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04288" y="4782312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Shape 30"/>
          <p:cNvSpPr/>
          <p:nvPr/>
        </p:nvSpPr>
        <p:spPr>
          <a:xfrm>
            <a:off x="2395728" y="4965192"/>
            <a:ext cx="0" cy="621792"/>
          </a:xfrm>
          <a:prstGeom prst="line">
            <a:avLst/>
          </a:prstGeom>
          <a:noFill/>
          <a:ln w="25400">
            <a:solidFill>
              <a:srgbClr val="CFE4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44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97480" y="4544568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45445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maklum balas penolakan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454456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penolakan VAS di FKP direkod bersama sebab dan demografi.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304288" y="558698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349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Ogos 2026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697480" y="5349240"/>
            <a:ext cx="8915400" cy="658368"/>
          </a:xfrm>
          <a:prstGeom prst="roundRect">
            <a:avLst>
              <a:gd name="adj" fmla="val 12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53492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Risalah pesakit diedarkan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17920" y="53492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Risalah pokok keputusan A4 dua muka, BM, dengan kod QR MyUBAT.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intervensi dijalankan serentak dengan operasi biasa, tanpa penambahan perjawatan.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VAS% naik 14.5 mata, sasaran belum dicapai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gabungan mengikut suku tahun berbanding sasaran 65%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325880"/>
          <a:ext cx="7315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553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putus-putus jingga = sasaran 65%.  Kejatuhan Q3 2025 berlaku sebelum Pandu Lalu dilancarkan.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92440" y="132588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1399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40.82% → 55.35%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321040" y="18379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gabungan, Q2 2025 → Q2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242316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24963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+4,004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321040" y="2935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tambahan melalui VAS sesuku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92440" y="35204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3593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−8,794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321040" y="4032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Bukan VAS di kaunter — beban FKP turun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956048"/>
            <a:ext cx="11109960" cy="1188720"/>
          </a:xfrm>
          <a:prstGeom prst="roundRect">
            <a:avLst>
              <a:gd name="adj" fmla="val 6923"/>
            </a:avLst>
          </a:prstGeom>
          <a:solidFill>
            <a:srgbClr val="F1F7F8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102352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berbanding sasaran: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 sudah melepasi sasaran (66.70%). MB pada 42.76% masih 22.2 mata di bawah. Secara gabungan kami 9.65 mata di bawah 65% — bersamaan 3,957 preskripsi VAS tambahan setiap suku, atau lebih kurang 1,319 sebulan.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= Rx Ulangan melalui VAS ÷ jumlah Rx Ulangan, mengikut suku tahun.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Kepelbagaian saluran berkesan — tetapi belum seimbang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Pecahan VAS mengikut servis, Q2 2025 → Q2 2026 (gabungan MB + PJ)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325880"/>
          <a:ext cx="7040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325880"/>
            <a:ext cx="3794760" cy="1097280"/>
          </a:xfrm>
          <a:prstGeom prst="roundRect">
            <a:avLst>
              <a:gd name="adj" fmla="val 7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18120" y="1325880"/>
            <a:ext cx="37947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14538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 Lalu: 0 → 3,428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46720" y="176479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Daripada tiada kepada 15.1% jumlah VAS dalam tempoh 10 bulan — penyumbang tunggal terbesar kepada pertumbuhan.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2551176"/>
            <a:ext cx="3794760" cy="1097280"/>
          </a:xfrm>
          <a:prstGeom prst="roundRect">
            <a:avLst>
              <a:gd name="adj" fmla="val 7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18120" y="2551176"/>
            <a:ext cx="3794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26791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UMP: 93.5% → 78.5%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46720" y="299008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Kebergantungan berkurang, namun volum mutlak hampir mendatar (+336 sahaja).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3776472"/>
            <a:ext cx="3794760" cy="1097280"/>
          </a:xfrm>
          <a:prstGeom prst="roundRect">
            <a:avLst>
              <a:gd name="adj" fmla="val 75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3776472"/>
            <a:ext cx="3794760" cy="54864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39044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eSyms menyusut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46720" y="421538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414. Saluran ini tidak mendapat tempat dan perlu dinilai semula.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507492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2120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 pertumbuhan bergantung pada satu servis baharu. Jika Pandu Lalu tergendala (cuaca, perjawatan, ruang letak kereta), VAS% akan jatuh semula ke paras 2025 dalam satu suku tahun.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Q2 2025 bagi Pandu Lalu ialah sifar kerana servis belum wujud.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Berapa banyak kenaikan ini benar-benar kami peroleh?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Penguraian perubahan VAS% kepada kesan pengangka (volum VAS) dan kesan penyebut (bil preskripsi susulan)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80160"/>
            <a:ext cx="53492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630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— PERTUMBUHAN TULEN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21.84% → 42.76%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+20.92 mata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395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4,194 → 8,315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+98.3%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8254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25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19,200 → 19,445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0" y="2825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227832"/>
            <a:ext cx="4800600" cy="0"/>
          </a:xfrm>
          <a:prstGeom prst="line">
            <a:avLst/>
          </a:prstGeom>
          <a:noFill/>
          <a:ln w="12700">
            <a:solidFill>
              <a:srgbClr val="DCE9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55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pengangka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32552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+21.46 mata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6850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penyebut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3685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36850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−0.55 mata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114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 berganda pada asas pesakit yang hampir tidak berubah. Intervensi berkesan.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128016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280160"/>
            <a:ext cx="5349240" cy="64008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4630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 — SEBAHAGIAN BESAR ARITMETIK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179222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54.52% → 66.70%</a:t>
            </a:r>
            <a:pPr indent="0" marL="0">
              <a:buNone/>
            </a:pPr>
            <a:r>
              <a:rPr lang="en-US" sz="1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+12.18 mata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537960" y="23957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32520" y="2395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14,507 → 14,390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10412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28254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32520" y="2825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26,608 → 21,573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104120" y="2825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−18.9%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3227832"/>
            <a:ext cx="4800600" cy="0"/>
          </a:xfrm>
          <a:prstGeom prst="line">
            <a:avLst/>
          </a:prstGeom>
          <a:noFill/>
          <a:ln w="12700">
            <a:solidFill>
              <a:srgbClr val="DCE9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255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pengangka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73252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104120" y="32552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−0.44 mata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36850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penyebut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32520" y="3685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104120" y="36850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+12.62 mata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37960" y="4114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kenaikan datang daripada penyebut yang mengecil. Volum VAS sebenarnya menurun sedikit.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083F49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0474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kepekaan: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penyebut kekal pada paras Q2 2025 (45,808), VAS% gabungan Q2 2026 ialah 49.57% dan bukan 55.35%. Bermakna 5.79 daripada 14.53 mata kenaikan datang daripada penyebut yang mengecil. Jurang sebenar ke sasaran 65% lebih besar daripada yang dipaparkan angka agregat.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Penguraian tepat: Δp = (N₁−N₀)/D₀ + N₁(D₀−D₁)/(D₀·D₁).  Nota data: 8 daripada 36 baris bulanan 2025 (kesemuanya PJ) tidak sepadan antara jumlah servis dan lajur Rx VAS.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jurang kekal: suara 84 pesakit yang menolak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maklum balas penolakan VAS di FKP, 16 Julai – 13 Ogos 2026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371600"/>
          <a:ext cx="7040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7183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penolakan tergolong dalam kategori A — keutamaan dan tabiat peribadi, bukan kegagalan perkhidmatan.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1371600"/>
            <a:ext cx="3794760" cy="804672"/>
          </a:xfrm>
          <a:prstGeom prst="roundRect">
            <a:avLst>
              <a:gd name="adj" fmla="val 1022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1371600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052560" y="13716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daripada 84 pesakit berumur 60 tahun ke atas — penolakan tertumpu pada warga emas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18120" y="2304288"/>
            <a:ext cx="3794760" cy="804672"/>
          </a:xfrm>
          <a:prstGeom prst="roundRect">
            <a:avLst>
              <a:gd name="adj" fmla="val 1022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2304288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052560" y="23042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diwakili waris, dan 18 daripada 21 waris menolak atas sebab keselesaan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18120" y="3236976"/>
            <a:ext cx="3794760" cy="804672"/>
          </a:xfrm>
          <a:prstGeom prst="roundRect">
            <a:avLst>
              <a:gd name="adj" fmla="val 1022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3236976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052560" y="323697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 kekerapan TCA — masalah padanan bekalan ubat, bukan masalah VAS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818120" y="4169664"/>
            <a:ext cx="3794760" cy="804672"/>
          </a:xfrm>
          <a:prstGeom prst="roundRect">
            <a:avLst>
              <a:gd name="adj" fmla="val 1022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41696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52560" y="416966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sahaja menolak kerana bimbang kesilapan ubat — keyakinan bukan isu utama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5120640"/>
            <a:ext cx="11109960" cy="1005840"/>
          </a:xfrm>
          <a:prstGeom prst="roundRect">
            <a:avLst>
              <a:gd name="adj" fmla="val 8182"/>
            </a:avLst>
          </a:prstGeom>
          <a:solidFill>
            <a:srgbClr val="F1F7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248656"/>
            <a:ext cx="10561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kepada pusingan seterusnya: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saluran baharu tidak lagi memberi pulangan besar. Jurang yang tinggal ialah jurang pujukan — menukar tabiat warga emas dan waris, serta menyelaraskan bekalan ubat dengan tarikh TCA.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kajian: n=84 dalam tempoh 4 minggu di FKP sahaja; bukan sampel rawak dan tidak mewakili semua penolakan sepanjang tahun.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083F4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Keputusan: kekalkan, ubah suai, hentikan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keputusan dirujuk kepada bukti dalam fasa Check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80160"/>
            <a:ext cx="361188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KEKALKAN &amp; PIAWAIKAN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84708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Farmasi Pandu Lalu — pemacu tunggal terbesar pertumbuhan (0 → 3,428 Rx)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berstruktur di kaunter FKP semasa pesakit menunggu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3467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maklum balas penolakan — jadikan rekod tetap, bukan kajian sekali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28016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280160"/>
            <a:ext cx="3611880" cy="64008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630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SUAI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184708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Sasarkan warga emas &amp; waris secara khusus — 55/84 penolak berumur ≥60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59689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Selaraskan bekalan ubat dengan tarikh TCA (bekalan 3–6 bulan)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3467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Laluan pendaftaran tanpa telefon pintar, dibantu di kaunter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09651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VAS% MB dan PJ berasingan, bukan agregat sahaja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28016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280160"/>
            <a:ext cx="3611880" cy="64008"/>
          </a:xfrm>
          <a:prstGeom prst="rect">
            <a:avLst/>
          </a:prstGeom>
          <a:solidFill>
            <a:srgbClr val="7C9198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4630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SEMULA / HENTIKAN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184708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eSyms — volum menyusut (512 → 414) walaupun dipromosi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259689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Kempen kesedaran umum tanpa sasaran — 81% penolakan bukan kerana tidak tahu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33467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▪"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VAS% agregat sebagai ukuran kejayaan tunggal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035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 kaedah: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ketidaksepadanan data 2025 di PJ (8 daripada 36 baris bulanan) perlu disahkan dengan rekod PF sebelum sebarang laporan prestasi seterusnya dikeluarkan.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dicadangkan untuk pengesahan Ketua Jabatan Farmasi.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083F4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3291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5603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Pusingan kedua: Q3 – Q4 2026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7863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jurang 9.65 mata ke sasaran 65% — tumpuan sepenuhnya di MB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+3,957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VAS tambahan sesuku (≈1,319 sebulan) untuk mencapai 65%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42.76% → 63%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0299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MB yang diperlukan jika volum PJ kekal — MB memikul hampir keseluruhan jurang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173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+98.3%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202996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volum VAS MB dalam 12 bulan lalu — kadar ini perlu dikekalkan, bukan dipecut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980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TANGGUNGJAWAB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2798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29800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PETUNJUK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9067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Padanan bekalan ubat dengan TCA bagi pesakit ≥60 tahun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Pegawai Farmasi FKP + klinik pakar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0" y="30906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29800" y="30906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Bil. Rx bekalan ≥3 bulan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63931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Kaunter bantuan pendaftaran VAS (tanpa telefon pintar)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6393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 / Penolong Pegawai Farmasi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36393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829800" y="36393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Bil. pendaftaran dibantu sebulan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8795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8795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khusus waris pesakit warga emas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41879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Pegawai Farmasi FKP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0" y="41879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29800" y="41879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waris menerima VAS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3659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7365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kapasiti Farmasi Pandu Lalu di MB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47365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Unit FKP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412480" y="47365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– Q4 2026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829800" y="4736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Pandu Lalu sebulan di MB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28523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28523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Sahkan integriti data 2025 PJ dengan rekod PF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52852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Maklumat Farmasi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412480" y="5285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829800" y="52852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tidak sepadan = 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83387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83387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 VAS% MB dan PJ berasingan setiap bulan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5833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Unit FKP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412480" y="58338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Bulanan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829800" y="5833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bulanan dikeluarkan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Semakan pusingan 2: Januari 2027, menggunakan kaedah penguraian yang sama supaya kenaikan sebenar dapat dibezakan daripada kesan penyebut.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Pusingan PDCA — Peningkatan Peratus VAS</dc:title>
  <dc:subject>PptxGenJS Presentation</dc:subject>
  <dc:creator>Unit Farmasi Pesakit Luar, HSIS</dc:creator>
  <cp:lastModifiedBy>Unit Farmasi Pesakit Luar, HSIS</cp:lastModifiedBy>
  <cp:revision>1</cp:revision>
  <dcterms:created xsi:type="dcterms:W3CDTF">2026-09-18T09:19:42Z</dcterms:created>
  <dcterms:modified xsi:type="dcterms:W3CDTF">2026-09-18T09:19:42Z</dcterms:modified>
</cp:coreProperties>
</file>