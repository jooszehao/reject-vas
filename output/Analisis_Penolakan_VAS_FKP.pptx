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Pesakit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A) Lebih suka kaedah biasa
&amp; ambil sendiri</c:v>
                  </c:pt>
                  <c:pt idx="1">
                    <c:v>E) Halangan teknologi
&amp; celik digital</c:v>
                  </c:pt>
                  <c:pt idx="2">
                    <c:v>C) Isu ubat melalui pos</c:v>
                  </c:pt>
                  <c:pt idx="3">
                    <c:v>B) Bimbang kesilapan ubat</c:v>
                  </c:pt>
                  <c:pt idx="4">
                    <c:v>D) Isu farmasi pandu lalu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</c:v>
                </c:pt>
                <c:pt idx="1">
                  <c:v>7</c:v>
                </c:pt>
                <c:pt idx="2">
                  <c:v>6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Sebutan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8A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8A3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Lebih selesa dengan
kaedah biasa di kaunter</c:v>
                  </c:pt>
                  <c:pt idx="1">
                    <c:v>Kekerapan temujanji
(TCA hampir setiap bulan)</c:v>
                  </c:pt>
                  <c:pt idx="2">
                    <c:v>Kurang motivasi mencuba
sistem baharu</c:v>
                  </c:pt>
                  <c:pt idx="3">
                    <c:v>Pesakit tinggal
berdekatan hospital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</c:v>
                </c:pt>
                <c:pt idx="1">
                  <c:v>27</c:v>
                </c:pt>
                <c:pt idx="2">
                  <c:v>14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Pesakit</c:v>
                </c:pt>
              </c:strCache>
            </c:strRef>
          </c:tx>
          <c:spPr>
            <a:solidFill>
              <a:srgbClr val="9AD9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E5A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AD9D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0–10</c:v>
                  </c:pt>
                  <c:pt idx="1">
                    <c:v>31–40</c:v>
                  </c:pt>
                  <c:pt idx="2">
                    <c:v>41–50</c:v>
                  </c:pt>
                  <c:pt idx="3">
                    <c:v>51–60</c:v>
                  </c:pt>
                  <c:pt idx="4">
                    <c:v>61–70</c:v>
                  </c:pt>
                  <c:pt idx="5">
                    <c:v>71–80</c:v>
                  </c:pt>
                  <c:pt idx="6">
                    <c:v>81–90</c:v>
                  </c:pt>
                  <c:pt idx="7">
                    <c:v>91–100</c:v>
                  </c:pt>
                  <c:pt idx="8">
                    <c:v>Tiada
rekod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20</c:v>
                </c:pt>
                <c:pt idx="4">
                  <c:v>20</c:v>
                </c:pt>
                <c:pt idx="5">
                  <c:v>26</c:v>
                </c:pt>
                <c:pt idx="6">
                  <c:v>2</c:v>
                </c:pt>
                <c:pt idx="7">
                  <c:v>2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E5A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5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"/>
        </c:scaling>
        <c:delete val="1"/>
        <c:axPos val="l"/>
        <c:majorGridlines>
          <c:spPr>
            <a:ln w="12700" cap="flat">
              <a:solidFill>
                <a:srgbClr val="E3ED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C919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84 rekod bersih daripada borang maklum balas, tempoh empat minggu. Fokus pembentangan: analisis dan interpretasi sebab penolakan.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Kategori A menguasai 81%. Empat kategori lain bersama-sama kurang 18%. Tafsiran penting: usaha meyakinkan pesakit tentang keselamatan ubat tidak menyasarkan halangan sebenar.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Pemecahan sub-sebab mendedahkan dua halangan berbeza dalam kategori yang sama: tabiat (boleh berubah melalui pendedahan) dan struktur (tidak berubah selagi corak temujanji kekal).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Penolakan tertumpu pada warga emas dan klinik dengan temujanji susulan kerap. Waris hadir dalam satu perempat kes — saluran yang berkait rapat dengan halangan teknologi warga emas.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masalah berbeza memerlukan tafsiran berbeza. Yang paling penting: masalah kepercayaan hampir tidak wujud dalam data ini. Batasan: data merekod penolakan sahaja, tanpa denominator tawaran.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MAKLUM BALAS PESAKIT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25296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pesakit menolak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1975104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perkhidmatan VAS di FKP?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8163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maklum balas pesakit  •  16 Julai – 13 Ogos 2026  •  Farmasi Klinik Pesakit Luar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028090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404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097280" y="473659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 kerana lebih suka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kaedah biasa di kaunter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365760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38404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690872" y="473659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berumur 60 tahun ke atas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 daripada 79 rekod berumur)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3657600"/>
            <a:ext cx="3246120" cy="2011680"/>
          </a:xfrm>
          <a:prstGeom prst="roundRect">
            <a:avLst>
              <a:gd name="adj" fmla="val 4545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38404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284464" y="473659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rekod sahaja menyebut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9C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kebimbangan kesilapan ubat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&amp; interpretasi data borang maklum balas  |  Unit Farmasi Pesakit Luar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98448" y="274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kategori menguasai keseluruhan penolakan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98448" y="8412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Taburan 84 maklum balas mengikut kategori sebab penolakan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258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492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rekod tambahan tidak mempunyai sebab yang direkodkan.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909560" y="1325880"/>
            <a:ext cx="3703320" cy="2331720"/>
          </a:xfrm>
          <a:prstGeom prst="roundRect">
            <a:avLst>
              <a:gd name="adj" fmla="val 3529"/>
            </a:avLst>
          </a:prstGeom>
          <a:solidFill>
            <a:srgbClr val="083F49"/>
          </a:solidFill>
          <a:ln w="12700">
            <a:solidFill>
              <a:srgbClr val="083F4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14813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/ 84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183880" y="224028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pesakit menolak semata-mata kerana lebih selesa mengambil ubat sendiri di kaunter — bukan kerana VAS bermasalah.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09560" y="3840480"/>
            <a:ext cx="3703320" cy="1737360"/>
          </a:xfrm>
          <a:prstGeom prst="roundRect">
            <a:avLst>
              <a:gd name="adj" fmla="val 4737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40050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4315968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Kebimbangan keselamatan ubat hampir tiada (1.2%). Halangan sebenar ialah tabiat dan kemudahan, bukan kepercayaan terhadap perkhidmatan.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98448" y="274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Dalam kategori itu, dua jenis halangan berbeza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98448" y="8412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sub-sebab teratas mewakili 88 daripada 104 sebutan keseluruhan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sebutan; pesakit boleh memilih lebih daripada satu sub-sebab.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720840" y="1371600"/>
            <a:ext cx="4892040" cy="1975104"/>
          </a:xfrm>
          <a:prstGeom prst="roundRect">
            <a:avLst>
              <a:gd name="adj" fmla="val 4167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95160" y="16459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379208" y="1627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HALANGAN TABIAT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38360" y="162763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sebutan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995160" y="2066544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Keselesaan dengan kaedah sedia ada dan keengganan mencuba sistem baharu. Pesakit tidak pernah menguji VAS — penolakan berlaku sebelum sebarang pengalaman.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720840" y="3584448"/>
            <a:ext cx="4892040" cy="1975104"/>
          </a:xfrm>
          <a:prstGeom prst="roundRect">
            <a:avLst>
              <a:gd name="adj" fmla="val 4167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95160" y="3858768"/>
            <a:ext cx="274320" cy="27432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5" name="Text 12"/>
          <p:cNvSpPr/>
          <p:nvPr/>
        </p:nvSpPr>
        <p:spPr>
          <a:xfrm>
            <a:off x="7379208" y="3840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HALANGAN STRUKTUR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38360" y="3840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sebutan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995160" y="4279392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Pesakit tetap perlu hadir ke hospital setiap bulan, atau tinggal berdekatan. VAS tidak mengurangkan kunjungan mereka, jadi tiada faedah yang nyata.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720840" y="579729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Kedua-duanya tergolong dalam Kategori A, tetapi memerlukan tafsiran yang berbeza sama sekali.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98448" y="274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yang menolak, dan di klinik mana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98448" y="84124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umur, jabatan dan status kehadiran pesakit yang menolak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371600"/>
          <a:ext cx="685800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gelap = 60 tahun ke atas (50 pesakit, 63.3% daripada rekod berumur)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80960" y="1371600"/>
            <a:ext cx="3931920" cy="2788920"/>
          </a:xfrm>
          <a:prstGeom prst="roundRect">
            <a:avLst>
              <a:gd name="adj" fmla="val 2951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536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klinik = 56% penolakan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19751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Perubatan (Semua)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442448" y="2020824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10442448" y="20208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25237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442448" y="2569464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10442448" y="256946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30723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Oftalmologi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442448" y="3118104"/>
            <a:ext cx="896112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10442448" y="311810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55280" y="36210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7C9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Ketiga-tiganya klinik dengan jumlah temujanji susulan yang tinggi.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468172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" y="4828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58952" y="5367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maklum balas diwakili waris (21 rekod)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279392" y="468172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35424" y="4828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4535424" y="5367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daripada 21 rekod waris tergolong dalam Kategori 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055864" y="468172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F1F7F8"/>
          </a:solidFill>
          <a:ln w="12700">
            <a:solidFill>
              <a:srgbClr val="DCE9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11896" y="4828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7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8311896" y="53675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E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halangan teknologi berumur 61 tahun ke atas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3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96926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masalah berbeza — dan satu yang hampir tidak wujud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3429000" cy="3063240"/>
          </a:xfrm>
          <a:prstGeom prst="roundRect">
            <a:avLst>
              <a:gd name="adj" fmla="val 2985"/>
            </a:avLst>
          </a:prstGeom>
          <a:solidFill>
            <a:srgbClr val="028090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NILAI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1214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pPr indent="0" marL="0">
              <a:buNone/>
            </a:pPr>
            <a:r>
              <a:rPr lang="en-US" sz="1500" dirty="0">
                <a:solidFill>
                  <a:srgbClr val="C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81.0%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pesakit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tidak menawarkan faedah yang jelas kepada pesakit yang tetap perlu ke hospital atau tinggal berdekatan. Penolakan adalah keputusan rasional, bukan salah faham.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572768"/>
            <a:ext cx="3429000" cy="3063240"/>
          </a:xfrm>
          <a:prstGeom prst="roundRect">
            <a:avLst>
              <a:gd name="adj" fmla="val 2985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783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PERANTI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5152" y="21214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pPr indent="0" marL="0">
              <a:buNone/>
            </a:pPr>
            <a:r>
              <a:rPr lang="en-US" sz="15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8.3%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45152" y="27614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pesakit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3108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daripada tujuh kes berpunca daripada ketiadaan telefon pintar atau pelan data. Hanya satu menyebut kesukaran menguasai aplikasi — jadi ini bukan masalah sikap.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55864" y="1572768"/>
            <a:ext cx="3429000" cy="3063240"/>
          </a:xfrm>
          <a:prstGeom prst="roundRect">
            <a:avLst>
              <a:gd name="adj" fmla="val 2985"/>
            </a:avLst>
          </a:prstGeom>
          <a:solidFill>
            <a:srgbClr val="0F5563"/>
          </a:solidFill>
          <a:ln w="12700">
            <a:solidFill>
              <a:srgbClr val="176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783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PELAKSANAAN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30184" y="212140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pPr indent="0" marL="0">
              <a:buNone/>
            </a:pPr>
            <a:r>
              <a:rPr lang="en-US" sz="15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7.1%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30184" y="276148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pesakit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0184" y="3108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9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 ubat melalui pos berkaitan penghantaran, bukan konsep: penerima tiada di rumah, ubat salah atau tidak cukup, dan caj kurier.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864608"/>
            <a:ext cx="10789920" cy="960120"/>
          </a:xfrm>
          <a:prstGeom prst="roundRect">
            <a:avLst>
              <a:gd name="adj" fmla="val 8571"/>
            </a:avLst>
          </a:prstGeom>
          <a:solidFill>
            <a:srgbClr val="0F5563"/>
          </a:solidFill>
          <a:ln w="19050">
            <a:solidFill>
              <a:srgbClr val="E0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01091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0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kepercayaan: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rekod sahaja (1.2%) menyebut kebimbangan kesilapan ubat. Penerimaan VAS tersekat pada nilai dan akses, bukan pada keyakinan pesakit terhadap perkhidmatan.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6053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Asas: 84 maklum balas, 16 Julai – 13 Ogos 2026. Kadar penolakan sebenar tidak dapat dikira kerana jumlah pesakit yang ditawarkan VAS tidak direkodkan.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Penolakan Perkhidmatan VAS di FKP</dc:title>
  <dc:subject>PptxGenJS Presentation</dc:subject>
  <dc:creator>Unit Farmasi Pesakit Luar</dc:creator>
  <cp:lastModifiedBy>Unit Farmasi Pesakit Luar</cp:lastModifiedBy>
  <cp:revision>1</cp:revision>
  <dcterms:created xsi:type="dcterms:W3CDTF">2026-08-14T01:21:54Z</dcterms:created>
  <dcterms:modified xsi:type="dcterms:W3CDTF">2026-08-14T01:21:54Z</dcterms:modified>
</cp:coreProperties>
</file>